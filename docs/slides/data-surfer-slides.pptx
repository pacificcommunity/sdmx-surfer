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55555"/>
                </a:solidFill>
              </a:rPr>
              <a:t>DATA SURFER · COUNTRY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Dashboards you ask for, numbers you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35024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Data Surfer</a:t>
            </a:r>
            <a:r>
              <a:rPr sz="1400">
                <a:solidFill>
                  <a:srgbClr val="111111"/>
                </a:solidFill>
              </a:rPr>
              <a:t> is a web app where you build dashboards on official statistics by describing them in plain language. An AI agent finds the right data in the SDMx catalogue and assembles the charts.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Country Snapshots</a:t>
            </a:r>
            <a:r>
              <a:rPr sz="1400">
                <a:solidFill>
                  <a:srgbClr val="111111"/>
                </a:solidFill>
              </a:rPr>
              <a:t> is the curated layer on top: ready-made statistical profiles for every Pacific country and territory, with comparison and regional views.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Both run on the same pipeline:</a:t>
            </a:r>
            <a:r>
              <a:rPr sz="1400">
                <a:solidFill>
                  <a:srgbClr val="111111"/>
                </a:solidFill>
              </a:rPr>
              <a:t> every number is fetched live from .Stat at the moment you look at it, and every chart links back to its official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4351673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dirty="0">
                <a:solidFill>
                  <a:srgbClr val="111111"/>
                </a:solidFill>
              </a:rPr>
              <a:t>Live data – no copies, no extracts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5010041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11111"/>
                </a:solidFill>
              </a:rPr>
              <a:t>AI-assisted – conversation, not query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800" y="5668409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11111"/>
                </a:solidFill>
              </a:rPr>
              <a:t>Human-verifiable – every chart cites its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5448953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</a:rPr>
              <a:t>The AI cannot touch the data itself: it writes the query, and .Stat serves the values straight to the chart (next slide).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57E62A-F2AB-C50D-8C7D-E34EF2219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78869"/>
            <a:ext cx="5022667" cy="3348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The AI writes the question, never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Describe the dashboard in plain language.</a:t>
            </a:r>
            <a:r>
              <a:rPr sz="1250">
                <a:solidFill>
                  <a:srgbClr val="111111"/>
                </a:solidFill>
              </a:rPr>
              <a:t> The agent explores the statistical catalogue step by step (dataflows, dimensions, availability) and writes a small, human-readable dashboard spec.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Data never passes through the model.</a:t>
            </a:r>
            <a:r>
              <a:rPr sz="1250">
                <a:solidFill>
                  <a:srgbClr val="111111"/>
                </a:solidFill>
              </a:rPr>
              <a:t> Charts fetch values directly from the .Stat SDMx API at view time. The AI cannot corrupt, invent, or round a number: it only chooses the query and the chart type.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Always live, always checkable.</a:t>
            </a:r>
            <a:r>
              <a:rPr sz="1250">
                <a:solidFill>
                  <a:srgbClr val="111111"/>
                </a:solidFill>
              </a:rPr>
              <a:t> No copies or extracts; reload and you see today's data. Every panel cites its exact source query, one click from the official .Stat page, and the spec stays human-editable.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0840" y="1325880"/>
            <a:ext cx="5074920" cy="1005840"/>
          </a:xfrm>
          <a:prstGeom prst="rect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20840" y="2331720"/>
            <a:ext cx="5074920" cy="868680"/>
          </a:xfrm>
          <a:prstGeom prst="rect">
            <a:avLst/>
          </a:prstGeom>
          <a:solidFill>
            <a:srgbClr val="FE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20840" y="3200399"/>
            <a:ext cx="5074920" cy="1051560"/>
          </a:xfrm>
          <a:prstGeom prst="rect">
            <a:avLst/>
          </a:prstGeom>
          <a:solidFill>
            <a:srgbClr val="EF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32120" y="134416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55555"/>
                </a:solidFill>
              </a:rPr>
              <a:t>AUTHORING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35000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</a:rPr>
              <a:t>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218687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66534"/>
                </a:solidFill>
              </a:rPr>
              <a:t>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0020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User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dashboard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0020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LLM Agent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query +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60020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MCP Gateway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SDMx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0" y="1600200"/>
            <a:ext cx="1188720" cy="2514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200" b="1">
                <a:solidFill>
                  <a:srgbClr val="111111"/>
                </a:solidFill>
              </a:rPr>
              <a:t>SDMx
Endpoint</a:t>
            </a:r>
          </a:p>
          <a:p>
            <a:pPr algn="ctr"/>
            <a:r>
              <a:rPr sz="950">
                <a:solidFill>
                  <a:srgbClr val="166534"/>
                </a:solidFill>
              </a:rPr>
              <a:t>
metadata</a:t>
            </a:r>
          </a:p>
          <a:p>
            <a:pPr algn="ctr"/>
            <a:r>
              <a:rPr sz="950">
                <a:solidFill>
                  <a:srgbClr val="166534"/>
                </a:solidFill>
              </a:rPr>
              <a:t>
data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46888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JSON config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human-readable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46888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F5F5F4"/>
          </a:solidFill>
          <a:ln w="15875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Dashboard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429000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E7E5E4"/>
          </a:solidFill>
          <a:ln w="15875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Interactive
dashboard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fetches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1883664"/>
            <a:ext cx="365760" cy="0"/>
          </a:xfrm>
          <a:prstGeom prst="line">
            <a:avLst/>
          </a:prstGeom>
          <a:ln w="19050">
            <a:solidFill>
              <a:srgbClr val="111111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38160" y="1783080"/>
            <a:ext cx="411480" cy="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138160" y="2002536"/>
            <a:ext cx="411480" cy="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84080" y="1783080"/>
            <a:ext cx="640080" cy="13716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784080" y="2002536"/>
            <a:ext cx="640080" cy="100584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3800" y="2167128"/>
            <a:ext cx="0" cy="301752"/>
          </a:xfrm>
          <a:prstGeom prst="line">
            <a:avLst/>
          </a:prstGeom>
          <a:ln w="19050">
            <a:solidFill>
              <a:srgbClr val="D9770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2752344"/>
            <a:ext cx="411480" cy="0"/>
          </a:xfrm>
          <a:prstGeom prst="line">
            <a:avLst/>
          </a:prstGeom>
          <a:ln w="19050">
            <a:solidFill>
              <a:srgbClr val="D9770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62288" y="3035808"/>
            <a:ext cx="0" cy="393192"/>
          </a:xfrm>
          <a:prstGeom prst="line">
            <a:avLst/>
          </a:prstGeom>
          <a:ln w="19050">
            <a:solidFill>
              <a:srgbClr val="111111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84080" y="3611880"/>
            <a:ext cx="640080" cy="0"/>
          </a:xfrm>
          <a:prstGeom prst="line">
            <a:avLst/>
          </a:prstGeom>
          <a:ln w="25400">
            <a:solidFill>
              <a:srgbClr val="15803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784080" y="3931920"/>
            <a:ext cx="640080" cy="0"/>
          </a:xfrm>
          <a:prstGeom prst="line">
            <a:avLst/>
          </a:prstGeom>
          <a:ln w="25400">
            <a:solidFill>
              <a:srgbClr val="15803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35240" y="222199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B45309"/>
                </a:solidFill>
              </a:rPr>
              <a:t>writes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0896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555"/>
                </a:solidFill>
              </a:rPr>
              <a:t>renders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374136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66534"/>
                </a:solidFill>
              </a:rPr>
              <a:t>SDMx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97764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66534"/>
                </a:solidFill>
              </a:rPr>
              <a:t>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1545336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D4ED8"/>
                </a:solidFill>
              </a:rPr>
              <a:t>MCP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38912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</a:rPr>
              <a:t>The model acts only in the authoring phase. At runtime the dashboard talks to the SDMx endpoint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5420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dirty="0">
                <a:solidFill>
                  <a:srgbClr val="111111"/>
                </a:solidFill>
              </a:rPr>
              <a:t>Country Snapshots: </a:t>
            </a:r>
            <a:r>
              <a:rPr lang="en-AU" sz="2700" b="1" dirty="0">
                <a:solidFill>
                  <a:srgbClr val="111111"/>
                </a:solidFill>
              </a:rPr>
              <a:t>an indicator monitoring tool</a:t>
            </a:r>
            <a:endParaRPr sz="2700" b="1" dirty="0">
              <a:solidFill>
                <a:srgbClr val="11111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5120640" cy="303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Built for MFAT.</a:t>
            </a:r>
            <a:r>
              <a:rPr sz="1300" dirty="0">
                <a:solidFill>
                  <a:srgbClr val="111111"/>
                </a:solidFill>
              </a:rPr>
              <a:t> Developed for the New Zealand Ministry of Foreign Affairs and Trade: one-page statistical profiles ready to brief from, with a curated catalogue of ~100 indicators across 12 themes for each of 22 Pacific countries and territories, plus side-by-side comparison and region-wide views.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Same trust pipeline.</a:t>
            </a:r>
            <a:r>
              <a:rPr sz="1300" dirty="0">
                <a:solidFill>
                  <a:srgbClr val="111111"/>
                </a:solidFill>
              </a:rPr>
              <a:t> Every indicator on the page is a live .Stat query rendered on load, with its source cited. PDF export keeps the source links clickable.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From reading to exploring in one click.</a:t>
            </a:r>
            <a:r>
              <a:rPr sz="1300" dirty="0">
                <a:solidFill>
                  <a:srgbClr val="111111"/>
                </a:solidFill>
              </a:rPr>
              <a:t> “Explore in Surfer” turns any snapshot page into an editable AI session: change countries, time ranges, or chart types by asking.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B23D25-A573-868F-9BB6-8FF5A3C3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302" y="1067435"/>
            <a:ext cx="4706355" cy="5548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Built for the Pacific, connected to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54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111"/>
                </a:solidFill>
              </a:rPr>
              <a:t>SPC's Pacific Data Hub (.Stat)</a:t>
            </a:r>
            <a:r>
              <a:rPr sz="1300" b="0">
                <a:solidFill>
                  <a:srgbClr val="111111"/>
                </a:solidFill>
              </a:rPr>
              <a:t>, first-class support for all 22 Pacific countries and territories, treated with regional neutrality.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97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NATIONAL STATISTICS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53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111"/>
                </a:solidFill>
              </a:rPr>
              <a:t>Stats NZ · Australian Bureau of Statistics</a:t>
            </a:r>
            <a:r>
              <a:rPr sz="1300" b="0">
                <a:solidFill>
                  <a:srgbClr val="111111"/>
                </a:solidFill>
              </a:rPr>
              <a:t> · Fiji Bureau of Statistics · Samoa Bureau of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INTERNATIONAL ORGANISATIONS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96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</a:rPr>
              <a:t>OECD · Eurostat · UNICEF · ILO · IMF · ECB · BIS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</a:rPr>
              <a:t>One conversation can mix sources: Pacific data alongside the same indicator from any connected provider, every series still fetched live from its own endpoint.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Live today</a:t>
            </a:r>
            <a:r>
              <a:rPr sz="1300">
                <a:solidFill>
                  <a:srgbClr val="111111"/>
                </a:solidFill>
              </a:rPr>
              <a:t> at sdmxsurfer.net (capped pilot), moving to surfer.pacificdata.org.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Safe to open up:</a:t>
            </a:r>
            <a:r>
              <a:rPr sz="1300">
                <a:solidFill>
                  <a:srgbClr val="111111"/>
                </a:solidFill>
              </a:rPr>
              <a:t> per-user daily limits and a hard budget cap on AI usage; the data itself is public official statistics.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Owned by the Pacific:</a:t>
            </a:r>
            <a:r>
              <a:rPr sz="1300">
                <a:solidFill>
                  <a:srgbClr val="111111"/>
                </a:solidFill>
              </a:rPr>
              <a:t> copyright The Pacific Community (SPC), source available under a noncommercial licence; built at the Statistics for Development Division.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4892040"/>
            <a:ext cx="512064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50749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111"/>
                </a:solidFill>
              </a:rPr>
              <a:t>Everything on screen is reproducible: open any chart's source link and you are on the official .Stat query that produced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671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Giulio Dalla Riva</cp:lastModifiedBy>
  <cp:revision>2</cp:revision>
  <dcterms:created xsi:type="dcterms:W3CDTF">2013-01-27T09:14:16Z</dcterms:created>
  <dcterms:modified xsi:type="dcterms:W3CDTF">2026-07-27T23:33:11Z</dcterms:modified>
  <cp:category/>
</cp:coreProperties>
</file>