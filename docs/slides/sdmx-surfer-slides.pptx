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59" d="100"/>
          <a:sy n="59" d="100"/>
        </p:scale>
        <p:origin x="68" y="29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presProps" Target="presProps.xml"/><Relationship Id="rId5" Type="http://schemas.openxmlformats.org/officeDocument/2006/relationships/slide" Target="slides/slide4.xml"/><Relationship Id="rId4" Type="http://schemas.openxmlformats.org/officeDocument/2006/relationships/slide" Target="slides/slide3.xml"/><Relationship Id="rId9" Type="http://schemas.openxmlformats.org/officeDocument/2006/relationships/tableStyles" Target="tableStyle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7/28/2026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7/28/2026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7/28/2026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7/28/2026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7/28/2026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7/28/2026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7/28/2026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7/28/2026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7/28/2026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7/28/2026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7/28/2026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7/28/2026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94360" y="347472"/>
            <a:ext cx="100584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050" b="1">
                <a:solidFill>
                  <a:srgbClr val="555555"/>
                </a:solidFill>
              </a:rPr>
              <a:t>SDMX SURFER · COUNTRY SNAPSHOTS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94360" y="658368"/>
            <a:ext cx="10972800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2700" b="1">
                <a:solidFill>
                  <a:srgbClr val="111111"/>
                </a:solidFill>
              </a:rPr>
              <a:t>Dashboards you ask for, numbers you can trust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94360" y="1335024"/>
            <a:ext cx="5852160" cy="4206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18000"/>
              </a:lnSpc>
              <a:spcAft>
                <a:spcPts val="1400"/>
              </a:spcAft>
            </a:pPr>
            <a:r>
              <a:rPr sz="1400">
                <a:solidFill>
                  <a:srgbClr val="999999"/>
                </a:solidFill>
              </a:rPr>
              <a:t>–  </a:t>
            </a:r>
            <a:r>
              <a:rPr sz="1400" b="1">
                <a:solidFill>
                  <a:srgbClr val="111111"/>
                </a:solidFill>
              </a:rPr>
              <a:t>SDMX Surfer</a:t>
            </a:r>
            <a:r>
              <a:rPr sz="1400">
                <a:solidFill>
                  <a:srgbClr val="111111"/>
                </a:solidFill>
              </a:rPr>
              <a:t> is a web app where you build dashboards on official statistics by describing them in plain language. An AI agent finds the right data in the SDMx catalogue and assembles the charts.</a:t>
            </a:r>
          </a:p>
          <a:p>
            <a:pPr>
              <a:lnSpc>
                <a:spcPct val="118000"/>
              </a:lnSpc>
              <a:spcAft>
                <a:spcPts val="1400"/>
              </a:spcAft>
            </a:pPr>
            <a:r>
              <a:rPr sz="1400">
                <a:solidFill>
                  <a:srgbClr val="999999"/>
                </a:solidFill>
              </a:rPr>
              <a:t>–  </a:t>
            </a:r>
            <a:r>
              <a:rPr sz="1400" b="1">
                <a:solidFill>
                  <a:srgbClr val="111111"/>
                </a:solidFill>
              </a:rPr>
              <a:t>Country Snapshots</a:t>
            </a:r>
            <a:r>
              <a:rPr sz="1400">
                <a:solidFill>
                  <a:srgbClr val="111111"/>
                </a:solidFill>
              </a:rPr>
              <a:t> is the curated layer on top: ready-made statistical profiles for every Pacific country and territory, with comparison and regional views.</a:t>
            </a:r>
          </a:p>
          <a:p>
            <a:pPr>
              <a:lnSpc>
                <a:spcPct val="118000"/>
              </a:lnSpc>
              <a:spcAft>
                <a:spcPts val="1400"/>
              </a:spcAft>
            </a:pPr>
            <a:r>
              <a:rPr sz="1400">
                <a:solidFill>
                  <a:srgbClr val="999999"/>
                </a:solidFill>
              </a:rPr>
              <a:t>–  </a:t>
            </a:r>
            <a:r>
              <a:rPr sz="1400" b="1">
                <a:solidFill>
                  <a:srgbClr val="111111"/>
                </a:solidFill>
              </a:rPr>
              <a:t>Both run on the same pipeline:</a:t>
            </a:r>
            <a:r>
              <a:rPr sz="1400">
                <a:solidFill>
                  <a:srgbClr val="111111"/>
                </a:solidFill>
              </a:rPr>
              <a:t> every number is fetched live from .Stat at the moment you look at it, and every chart links back to its official source.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1066800" y="4351673"/>
            <a:ext cx="4160520" cy="475488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19050">
            <a:solidFill>
              <a:srgbClr val="11111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r>
              <a:rPr sz="1250" b="1" dirty="0">
                <a:solidFill>
                  <a:srgbClr val="111111"/>
                </a:solidFill>
              </a:rPr>
              <a:t>Live data – no copies, no extracts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1066800" y="5010041"/>
            <a:ext cx="4160520" cy="475488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19050">
            <a:solidFill>
              <a:srgbClr val="11111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r>
              <a:rPr sz="1250" b="1">
                <a:solidFill>
                  <a:srgbClr val="111111"/>
                </a:solidFill>
              </a:rPr>
              <a:t>AI-assisted – conversation, not query languages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1066800" y="5668409"/>
            <a:ext cx="4160520" cy="475488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19050">
            <a:solidFill>
              <a:srgbClr val="11111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r>
              <a:rPr sz="1250" b="1">
                <a:solidFill>
                  <a:srgbClr val="111111"/>
                </a:solidFill>
              </a:rPr>
              <a:t>Human-verifiable – every chart cites its source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360920" y="5448953"/>
            <a:ext cx="4206240" cy="9144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150" b="0">
                <a:solidFill>
                  <a:srgbClr val="555555"/>
                </a:solidFill>
              </a:rPr>
              <a:t>The AI cannot touch the data itself: it writes the query, and .Stat serves the values straight to the chart (next slide).</a:t>
            </a:r>
          </a:p>
        </p:txBody>
      </p:sp>
      <p:pic>
        <p:nvPicPr>
          <p:cNvPr id="12" name="Picture 11">
            <a:extLst>
              <a:ext uri="{FF2B5EF4-FFF2-40B4-BE49-F238E27FC236}">
                <a16:creationId xmlns:a16="http://schemas.microsoft.com/office/drawing/2014/main" id="{6757E62A-F2AB-C50D-8C7D-E34EF221965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766560" y="1478869"/>
            <a:ext cx="5022667" cy="3348292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94360" y="502920"/>
            <a:ext cx="10972800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2700" b="1">
                <a:solidFill>
                  <a:srgbClr val="111111"/>
                </a:solidFill>
              </a:rPr>
              <a:t>The AI writes the question, never the numbers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94360" y="1463040"/>
            <a:ext cx="4663440" cy="4754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18000"/>
              </a:lnSpc>
              <a:spcAft>
                <a:spcPts val="1200"/>
              </a:spcAft>
            </a:pPr>
            <a:r>
              <a:rPr sz="1250">
                <a:solidFill>
                  <a:srgbClr val="999999"/>
                </a:solidFill>
              </a:rPr>
              <a:t>–  </a:t>
            </a:r>
            <a:r>
              <a:rPr sz="1250" b="1">
                <a:solidFill>
                  <a:srgbClr val="111111"/>
                </a:solidFill>
              </a:rPr>
              <a:t>Describe the dashboard in plain language.</a:t>
            </a:r>
            <a:r>
              <a:rPr sz="1250">
                <a:solidFill>
                  <a:srgbClr val="111111"/>
                </a:solidFill>
              </a:rPr>
              <a:t> The agent explores the statistical catalogue step by step (dataflows, dimensions, availability) and writes a small, human-readable dashboard spec.</a:t>
            </a:r>
          </a:p>
          <a:p>
            <a:pPr>
              <a:lnSpc>
                <a:spcPct val="118000"/>
              </a:lnSpc>
              <a:spcAft>
                <a:spcPts val="1200"/>
              </a:spcAft>
            </a:pPr>
            <a:r>
              <a:rPr sz="1250">
                <a:solidFill>
                  <a:srgbClr val="999999"/>
                </a:solidFill>
              </a:rPr>
              <a:t>–  </a:t>
            </a:r>
            <a:r>
              <a:rPr sz="1250" b="1">
                <a:solidFill>
                  <a:srgbClr val="111111"/>
                </a:solidFill>
              </a:rPr>
              <a:t>Data never passes through the model.</a:t>
            </a:r>
            <a:r>
              <a:rPr sz="1250">
                <a:solidFill>
                  <a:srgbClr val="111111"/>
                </a:solidFill>
              </a:rPr>
              <a:t> Charts fetch values directly from the .Stat SDMx API at view time. The AI cannot corrupt, invent, or round a number: it only chooses the query and the chart type.</a:t>
            </a:r>
          </a:p>
          <a:p>
            <a:pPr>
              <a:lnSpc>
                <a:spcPct val="118000"/>
              </a:lnSpc>
              <a:spcAft>
                <a:spcPts val="1200"/>
              </a:spcAft>
            </a:pPr>
            <a:r>
              <a:rPr sz="1250">
                <a:solidFill>
                  <a:srgbClr val="999999"/>
                </a:solidFill>
              </a:rPr>
              <a:t>–  </a:t>
            </a:r>
            <a:r>
              <a:rPr sz="1250" b="1">
                <a:solidFill>
                  <a:srgbClr val="111111"/>
                </a:solidFill>
              </a:rPr>
              <a:t>Always live, always checkable.</a:t>
            </a:r>
            <a:r>
              <a:rPr sz="1250">
                <a:solidFill>
                  <a:srgbClr val="111111"/>
                </a:solidFill>
              </a:rPr>
              <a:t> No copies or extracts; reload and you see today's data. Every panel cites its exact source query, one click from the official .Stat page, and the spec stays human-editable.</a:t>
            </a:r>
          </a:p>
        </p:txBody>
      </p:sp>
      <p:sp>
        <p:nvSpPr>
          <p:cNvPr id="4" name="Rectangle 3"/>
          <p:cNvSpPr/>
          <p:nvPr/>
        </p:nvSpPr>
        <p:spPr>
          <a:xfrm>
            <a:off x="6720840" y="1325880"/>
            <a:ext cx="5074920" cy="1005840"/>
          </a:xfrm>
          <a:prstGeom prst="rect">
            <a:avLst/>
          </a:prstGeom>
          <a:solidFill>
            <a:srgbClr val="EFF5F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5" name="Rectangle 4"/>
          <p:cNvSpPr/>
          <p:nvPr/>
        </p:nvSpPr>
        <p:spPr>
          <a:xfrm>
            <a:off x="6720840" y="2331720"/>
            <a:ext cx="5074920" cy="868680"/>
          </a:xfrm>
          <a:prstGeom prst="rect">
            <a:avLst/>
          </a:prstGeom>
          <a:solidFill>
            <a:srgbClr val="FEFAE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6" name="Rectangle 5"/>
          <p:cNvSpPr/>
          <p:nvPr/>
        </p:nvSpPr>
        <p:spPr>
          <a:xfrm>
            <a:off x="6720840" y="3200399"/>
            <a:ext cx="5074920" cy="1051560"/>
          </a:xfrm>
          <a:prstGeom prst="rect">
            <a:avLst/>
          </a:prstGeom>
          <a:solidFill>
            <a:srgbClr val="EFFBF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5532120" y="1344168"/>
            <a:ext cx="114300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900" b="1">
                <a:solidFill>
                  <a:srgbClr val="555555"/>
                </a:solidFill>
              </a:rPr>
              <a:t>AUTHORING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532120" y="2350008"/>
            <a:ext cx="132588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900" b="1">
                <a:solidFill>
                  <a:srgbClr val="B45309"/>
                </a:solidFill>
              </a:rPr>
              <a:t>CONFIGURATION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532120" y="3218687"/>
            <a:ext cx="114300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900" b="1">
                <a:solidFill>
                  <a:srgbClr val="166534"/>
                </a:solidFill>
              </a:rPr>
              <a:t>RUNTIME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5623560" y="1600200"/>
            <a:ext cx="960120" cy="566928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15875">
            <a:solidFill>
              <a:srgbClr val="11111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50800" tIns="25400" rIns="50800" bIns="25400" rtlCol="0" anchor="ctr"/>
          <a:lstStyle/>
          <a:p>
            <a:pPr algn="ctr"/>
            <a:r>
              <a:rPr sz="1200" b="1">
                <a:solidFill>
                  <a:srgbClr val="111111"/>
                </a:solidFill>
              </a:rPr>
              <a:t>User</a:t>
            </a:r>
          </a:p>
          <a:p>
            <a:pPr algn="ctr"/>
            <a:r>
              <a:rPr sz="950">
                <a:solidFill>
                  <a:srgbClr val="555555"/>
                </a:solidFill>
              </a:rPr>
              <a:t>dashboard goal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949440" y="1600200"/>
            <a:ext cx="1188720" cy="566928"/>
          </a:xfrm>
          <a:prstGeom prst="roundRect">
            <a:avLst>
              <a:gd name="adj" fmla="val 12000"/>
            </a:avLst>
          </a:prstGeom>
          <a:solidFill>
            <a:srgbClr val="DBEAFE"/>
          </a:solidFill>
          <a:ln w="15875">
            <a:solidFill>
              <a:srgbClr val="1D4ED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50800" tIns="25400" rIns="50800" bIns="25400" rtlCol="0" anchor="ctr"/>
          <a:lstStyle/>
          <a:p>
            <a:pPr algn="ctr"/>
            <a:r>
              <a:rPr sz="1200" b="1">
                <a:solidFill>
                  <a:srgbClr val="111111"/>
                </a:solidFill>
              </a:rPr>
              <a:t>LLM Agent</a:t>
            </a:r>
          </a:p>
          <a:p>
            <a:pPr algn="ctr"/>
            <a:r>
              <a:rPr sz="950">
                <a:solidFill>
                  <a:srgbClr val="555555"/>
                </a:solidFill>
              </a:rPr>
              <a:t>query + chart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8549640" y="1600200"/>
            <a:ext cx="1234440" cy="566928"/>
          </a:xfrm>
          <a:prstGeom prst="roundRect">
            <a:avLst>
              <a:gd name="adj" fmla="val 12000"/>
            </a:avLst>
          </a:prstGeom>
          <a:solidFill>
            <a:srgbClr val="EDE9FE"/>
          </a:solidFill>
          <a:ln w="15875">
            <a:solidFill>
              <a:srgbClr val="6D28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50800" tIns="25400" rIns="50800" bIns="25400" rtlCol="0" anchor="ctr"/>
          <a:lstStyle/>
          <a:p>
            <a:pPr algn="ctr"/>
            <a:r>
              <a:rPr sz="1200" b="1">
                <a:solidFill>
                  <a:srgbClr val="111111"/>
                </a:solidFill>
              </a:rPr>
              <a:t>MCP Gateway</a:t>
            </a:r>
          </a:p>
          <a:p>
            <a:pPr algn="ctr"/>
            <a:r>
              <a:rPr sz="950">
                <a:solidFill>
                  <a:srgbClr val="555555"/>
                </a:solidFill>
              </a:rPr>
              <a:t>SDMX discovery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10424160" y="1600200"/>
            <a:ext cx="1188720" cy="2514600"/>
          </a:xfrm>
          <a:prstGeom prst="roundRect">
            <a:avLst>
              <a:gd name="adj" fmla="val 12000"/>
            </a:avLst>
          </a:prstGeom>
          <a:solidFill>
            <a:srgbClr val="DCFCE7"/>
          </a:solidFill>
          <a:ln w="15875">
            <a:solidFill>
              <a:srgbClr val="15803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t"/>
          <a:lstStyle/>
          <a:p>
            <a:pPr algn="ctr"/>
            <a:r>
              <a:rPr sz="1200" b="1">
                <a:solidFill>
                  <a:srgbClr val="111111"/>
                </a:solidFill>
              </a:rPr>
              <a:t>SDMX
Endpoint</a:t>
            </a:r>
          </a:p>
          <a:p>
            <a:pPr algn="ctr"/>
            <a:r>
              <a:rPr sz="950">
                <a:solidFill>
                  <a:srgbClr val="166534"/>
                </a:solidFill>
              </a:rPr>
              <a:t>
metadata</a:t>
            </a:r>
          </a:p>
          <a:p>
            <a:pPr algn="ctr"/>
            <a:r>
              <a:rPr sz="950">
                <a:solidFill>
                  <a:srgbClr val="166534"/>
                </a:solidFill>
              </a:rPr>
              <a:t>
data values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949440" y="2468880"/>
            <a:ext cx="1188720" cy="566928"/>
          </a:xfrm>
          <a:prstGeom prst="roundRect">
            <a:avLst>
              <a:gd name="adj" fmla="val 12000"/>
            </a:avLst>
          </a:prstGeom>
          <a:solidFill>
            <a:srgbClr val="FEF3C7"/>
          </a:solidFill>
          <a:ln w="15875">
            <a:solidFill>
              <a:srgbClr val="D9770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50800" tIns="25400" rIns="50800" bIns="25400" rtlCol="0" anchor="ctr"/>
          <a:lstStyle/>
          <a:p>
            <a:pPr algn="ctr"/>
            <a:r>
              <a:rPr sz="1200" b="1">
                <a:solidFill>
                  <a:srgbClr val="111111"/>
                </a:solidFill>
              </a:rPr>
              <a:t>JSON config</a:t>
            </a:r>
          </a:p>
          <a:p>
            <a:pPr algn="ctr"/>
            <a:r>
              <a:rPr sz="950">
                <a:solidFill>
                  <a:srgbClr val="555555"/>
                </a:solidFill>
              </a:rPr>
              <a:t>human-readable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8549640" y="2468880"/>
            <a:ext cx="1234440" cy="566928"/>
          </a:xfrm>
          <a:prstGeom prst="roundRect">
            <a:avLst>
              <a:gd name="adj" fmla="val 12000"/>
            </a:avLst>
          </a:prstGeom>
          <a:solidFill>
            <a:srgbClr val="F5F5F4"/>
          </a:solidFill>
          <a:ln w="15875">
            <a:solidFill>
              <a:srgbClr val="44403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50800" tIns="25400" rIns="50800" bIns="25400" rtlCol="0" anchor="ctr"/>
          <a:lstStyle/>
          <a:p>
            <a:pPr algn="ctr"/>
            <a:r>
              <a:rPr sz="1200" b="1">
                <a:solidFill>
                  <a:srgbClr val="111111"/>
                </a:solidFill>
              </a:rPr>
              <a:t>Dashboard</a:t>
            </a:r>
          </a:p>
          <a:p>
            <a:pPr algn="ctr"/>
            <a:r>
              <a:rPr sz="950">
                <a:solidFill>
                  <a:srgbClr val="555555"/>
                </a:solidFill>
              </a:rPr>
              <a:t>components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8549640" y="3429000"/>
            <a:ext cx="1234440" cy="658368"/>
          </a:xfrm>
          <a:prstGeom prst="roundRect">
            <a:avLst>
              <a:gd name="adj" fmla="val 12000"/>
            </a:avLst>
          </a:prstGeom>
          <a:solidFill>
            <a:srgbClr val="E7E5E4"/>
          </a:solidFill>
          <a:ln w="15875">
            <a:solidFill>
              <a:srgbClr val="44403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50800" tIns="25400" rIns="50800" bIns="25400" rtlCol="0" anchor="ctr"/>
          <a:lstStyle/>
          <a:p>
            <a:pPr algn="ctr"/>
            <a:r>
              <a:rPr sz="1200" b="1">
                <a:solidFill>
                  <a:srgbClr val="111111"/>
                </a:solidFill>
              </a:rPr>
              <a:t>Interactive
dashboard</a:t>
            </a:r>
          </a:p>
          <a:p>
            <a:pPr algn="ctr"/>
            <a:r>
              <a:rPr sz="950">
                <a:solidFill>
                  <a:srgbClr val="555555"/>
                </a:solidFill>
              </a:rPr>
              <a:t>fetches data</a:t>
            </a:r>
          </a:p>
        </p:txBody>
      </p:sp>
      <p:cxnSp>
        <p:nvCxnSpPr>
          <p:cNvPr id="17" name="Connector 16"/>
          <p:cNvCxnSpPr/>
          <p:nvPr/>
        </p:nvCxnSpPr>
        <p:spPr>
          <a:xfrm>
            <a:off x="6583680" y="1883664"/>
            <a:ext cx="365760" cy="0"/>
          </a:xfrm>
          <a:prstGeom prst="line">
            <a:avLst/>
          </a:prstGeom>
          <a:ln w="19050">
            <a:solidFill>
              <a:srgbClr val="111111"/>
            </a:solidFill>
            <a:tailEnd type="arrow" w="med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8" name="Connector 17"/>
          <p:cNvCxnSpPr/>
          <p:nvPr/>
        </p:nvCxnSpPr>
        <p:spPr>
          <a:xfrm>
            <a:off x="8138160" y="1783080"/>
            <a:ext cx="411480" cy="0"/>
          </a:xfrm>
          <a:prstGeom prst="line">
            <a:avLst/>
          </a:prstGeom>
          <a:ln w="19050">
            <a:solidFill>
              <a:srgbClr val="1D4ED8"/>
            </a:solidFill>
            <a:tailEnd type="arrow" w="med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9" name="Connector 18"/>
          <p:cNvCxnSpPr/>
          <p:nvPr/>
        </p:nvCxnSpPr>
        <p:spPr>
          <a:xfrm flipH="1">
            <a:off x="8138160" y="2002536"/>
            <a:ext cx="411480" cy="0"/>
          </a:xfrm>
          <a:prstGeom prst="line">
            <a:avLst/>
          </a:prstGeom>
          <a:ln w="19050">
            <a:solidFill>
              <a:srgbClr val="1D4ED8"/>
            </a:solidFill>
            <a:tailEnd type="arrow" w="med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0" name="Connector 19"/>
          <p:cNvCxnSpPr/>
          <p:nvPr/>
        </p:nvCxnSpPr>
        <p:spPr>
          <a:xfrm>
            <a:off x="9784080" y="1783080"/>
            <a:ext cx="640080" cy="137160"/>
          </a:xfrm>
          <a:prstGeom prst="line">
            <a:avLst/>
          </a:prstGeom>
          <a:ln w="19050">
            <a:solidFill>
              <a:srgbClr val="1D4ED8"/>
            </a:solidFill>
            <a:tailEnd type="arrow" w="med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1" name="Connector 20"/>
          <p:cNvCxnSpPr/>
          <p:nvPr/>
        </p:nvCxnSpPr>
        <p:spPr>
          <a:xfrm flipH="1" flipV="1">
            <a:off x="9784080" y="2002536"/>
            <a:ext cx="640080" cy="100584"/>
          </a:xfrm>
          <a:prstGeom prst="line">
            <a:avLst/>
          </a:prstGeom>
          <a:ln w="19050">
            <a:solidFill>
              <a:srgbClr val="1D4ED8"/>
            </a:solidFill>
            <a:tailEnd type="arrow" w="med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2" name="Connector 21"/>
          <p:cNvCxnSpPr/>
          <p:nvPr/>
        </p:nvCxnSpPr>
        <p:spPr>
          <a:xfrm>
            <a:off x="7543800" y="2167128"/>
            <a:ext cx="0" cy="301752"/>
          </a:xfrm>
          <a:prstGeom prst="line">
            <a:avLst/>
          </a:prstGeom>
          <a:ln w="19050">
            <a:solidFill>
              <a:srgbClr val="D97706"/>
            </a:solidFill>
            <a:tailEnd type="arrow" w="med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3" name="Connector 22"/>
          <p:cNvCxnSpPr/>
          <p:nvPr/>
        </p:nvCxnSpPr>
        <p:spPr>
          <a:xfrm>
            <a:off x="8138160" y="2752344"/>
            <a:ext cx="411480" cy="0"/>
          </a:xfrm>
          <a:prstGeom prst="line">
            <a:avLst/>
          </a:prstGeom>
          <a:ln w="19050">
            <a:solidFill>
              <a:srgbClr val="D97706"/>
            </a:solidFill>
            <a:tailEnd type="arrow" w="med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4" name="Connector 23"/>
          <p:cNvCxnSpPr/>
          <p:nvPr/>
        </p:nvCxnSpPr>
        <p:spPr>
          <a:xfrm>
            <a:off x="9162288" y="3035808"/>
            <a:ext cx="0" cy="393192"/>
          </a:xfrm>
          <a:prstGeom prst="line">
            <a:avLst/>
          </a:prstGeom>
          <a:ln w="19050">
            <a:solidFill>
              <a:srgbClr val="111111"/>
            </a:solidFill>
            <a:tailEnd type="arrow" w="med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5" name="Connector 24"/>
          <p:cNvCxnSpPr/>
          <p:nvPr/>
        </p:nvCxnSpPr>
        <p:spPr>
          <a:xfrm>
            <a:off x="9784080" y="3611880"/>
            <a:ext cx="640080" cy="0"/>
          </a:xfrm>
          <a:prstGeom prst="line">
            <a:avLst/>
          </a:prstGeom>
          <a:ln w="25400">
            <a:solidFill>
              <a:srgbClr val="15803D"/>
            </a:solidFill>
            <a:tailEnd type="arrow" w="med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6" name="Connector 25"/>
          <p:cNvCxnSpPr/>
          <p:nvPr/>
        </p:nvCxnSpPr>
        <p:spPr>
          <a:xfrm flipH="1">
            <a:off x="9784080" y="3931920"/>
            <a:ext cx="640080" cy="0"/>
          </a:xfrm>
          <a:prstGeom prst="line">
            <a:avLst/>
          </a:prstGeom>
          <a:ln w="25400">
            <a:solidFill>
              <a:srgbClr val="15803D"/>
            </a:solidFill>
            <a:tailEnd type="arrow" w="med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7" name="TextBox 26"/>
          <p:cNvSpPr txBox="1"/>
          <p:nvPr/>
        </p:nvSpPr>
        <p:spPr>
          <a:xfrm>
            <a:off x="7635240" y="2221992"/>
            <a:ext cx="685800" cy="20116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850" b="0">
                <a:solidFill>
                  <a:srgbClr val="B45309"/>
                </a:solidFill>
              </a:rPr>
              <a:t>writes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9235440" y="3108960"/>
            <a:ext cx="685800" cy="20116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850" b="0">
                <a:solidFill>
                  <a:srgbClr val="555555"/>
                </a:solidFill>
              </a:rPr>
              <a:t>renders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9756648" y="3374136"/>
            <a:ext cx="777240" cy="1828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800" b="0">
                <a:solidFill>
                  <a:srgbClr val="166534"/>
                </a:solidFill>
              </a:rPr>
              <a:t>SDMX query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9848088" y="3977640"/>
            <a:ext cx="640080" cy="1828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800" b="0">
                <a:solidFill>
                  <a:srgbClr val="166534"/>
                </a:solidFill>
              </a:rPr>
              <a:t>values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8147304" y="1545336"/>
            <a:ext cx="685800" cy="1828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800" b="0">
                <a:solidFill>
                  <a:srgbClr val="1D4ED8"/>
                </a:solidFill>
              </a:rPr>
              <a:t>MCP call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5532120" y="4389120"/>
            <a:ext cx="6126480" cy="5029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000" b="0">
                <a:solidFill>
                  <a:srgbClr val="555555"/>
                </a:solidFill>
              </a:rPr>
              <a:t>The model acts only in the authoring phase. At runtime the dashboard talks to the SDMx endpoint directly.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94360" y="502920"/>
            <a:ext cx="10972800" cy="542071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2700" b="1" dirty="0">
                <a:solidFill>
                  <a:srgbClr val="111111"/>
                </a:solidFill>
              </a:rPr>
              <a:t>Country Snapshots: </a:t>
            </a:r>
            <a:r>
              <a:rPr lang="en-AU" sz="2700" b="1" dirty="0">
                <a:solidFill>
                  <a:srgbClr val="111111"/>
                </a:solidFill>
              </a:rPr>
              <a:t>an indicator monitoring tool</a:t>
            </a:r>
            <a:endParaRPr sz="2700" b="1" dirty="0">
              <a:solidFill>
                <a:srgbClr val="111111"/>
              </a:solidFill>
            </a:endParaRPr>
          </a:p>
        </p:txBody>
      </p:sp>
      <p:sp>
        <p:nvSpPr>
          <p:cNvPr id="3" name="TextBox 2"/>
          <p:cNvSpPr txBox="1"/>
          <p:nvPr/>
        </p:nvSpPr>
        <p:spPr>
          <a:xfrm>
            <a:off x="594360" y="1463040"/>
            <a:ext cx="5120640" cy="303339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18000"/>
              </a:lnSpc>
              <a:spcAft>
                <a:spcPts val="1400"/>
              </a:spcAft>
            </a:pPr>
            <a:r>
              <a:rPr sz="1300" dirty="0">
                <a:solidFill>
                  <a:srgbClr val="999999"/>
                </a:solidFill>
              </a:rPr>
              <a:t>–  </a:t>
            </a:r>
            <a:r>
              <a:rPr sz="1300" b="1" dirty="0">
                <a:solidFill>
                  <a:srgbClr val="111111"/>
                </a:solidFill>
              </a:rPr>
              <a:t>Built for MFAT.</a:t>
            </a:r>
            <a:r>
              <a:rPr sz="1300" dirty="0">
                <a:solidFill>
                  <a:srgbClr val="111111"/>
                </a:solidFill>
              </a:rPr>
              <a:t> Developed for the New Zealand Ministry of Foreign Affairs and Trade: one-page statistical profiles ready to brief from, with a curated catalogue of ~100 indicators across 12 themes for each of 22 Pacific countries and territories, plus side-by-side comparison and region-wide views.</a:t>
            </a:r>
          </a:p>
          <a:p>
            <a:pPr>
              <a:lnSpc>
                <a:spcPct val="118000"/>
              </a:lnSpc>
              <a:spcAft>
                <a:spcPts val="1400"/>
              </a:spcAft>
            </a:pPr>
            <a:r>
              <a:rPr sz="1300" dirty="0">
                <a:solidFill>
                  <a:srgbClr val="999999"/>
                </a:solidFill>
              </a:rPr>
              <a:t>–  </a:t>
            </a:r>
            <a:r>
              <a:rPr sz="1300" b="1" dirty="0">
                <a:solidFill>
                  <a:srgbClr val="111111"/>
                </a:solidFill>
              </a:rPr>
              <a:t>Same trust pipeline.</a:t>
            </a:r>
            <a:r>
              <a:rPr sz="1300" dirty="0">
                <a:solidFill>
                  <a:srgbClr val="111111"/>
                </a:solidFill>
              </a:rPr>
              <a:t> Every indicator on the page is a live .Stat query rendered on load, with its source cited. PDF export keeps the source links clickable.</a:t>
            </a:r>
          </a:p>
          <a:p>
            <a:pPr>
              <a:lnSpc>
                <a:spcPct val="118000"/>
              </a:lnSpc>
              <a:spcAft>
                <a:spcPts val="1400"/>
              </a:spcAft>
            </a:pPr>
            <a:r>
              <a:rPr sz="1300" dirty="0">
                <a:solidFill>
                  <a:srgbClr val="999999"/>
                </a:solidFill>
              </a:rPr>
              <a:t>–  </a:t>
            </a:r>
            <a:r>
              <a:rPr sz="1300" b="1" dirty="0">
                <a:solidFill>
                  <a:srgbClr val="111111"/>
                </a:solidFill>
              </a:rPr>
              <a:t>From reading to exploring in one click.</a:t>
            </a:r>
            <a:r>
              <a:rPr sz="1300" dirty="0">
                <a:solidFill>
                  <a:srgbClr val="111111"/>
                </a:solidFill>
              </a:rPr>
              <a:t> “Explore in Surfer” turns any snapshot page into an editable AI session: change countries, time ranges, or chart types by asking.</a:t>
            </a:r>
          </a:p>
        </p:txBody>
      </p:sp>
      <p:pic>
        <p:nvPicPr>
          <p:cNvPr id="35" name="Picture 34">
            <a:extLst>
              <a:ext uri="{FF2B5EF4-FFF2-40B4-BE49-F238E27FC236}">
                <a16:creationId xmlns:a16="http://schemas.microsoft.com/office/drawing/2014/main" id="{7EB23D25-A573-868F-9BB6-8FF5A3C3E3E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375302" y="1067435"/>
            <a:ext cx="4706355" cy="5548884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94360" y="502920"/>
            <a:ext cx="10972800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2700" b="1">
                <a:solidFill>
                  <a:srgbClr val="111111"/>
                </a:solidFill>
              </a:rPr>
              <a:t>Built for the Pacific, connected to the world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94360" y="1554480"/>
            <a:ext cx="539496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000" b="1">
                <a:solidFill>
                  <a:srgbClr val="555555"/>
                </a:solidFill>
              </a:rPr>
              <a:t>HOME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94360" y="1810512"/>
            <a:ext cx="5394960" cy="7315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300" b="1">
                <a:solidFill>
                  <a:srgbClr val="111111"/>
                </a:solidFill>
              </a:rPr>
              <a:t>SPC's Pacific Data Hub (.Stat)</a:t>
            </a:r>
            <a:r>
              <a:rPr sz="1300" b="0">
                <a:solidFill>
                  <a:srgbClr val="111111"/>
                </a:solidFill>
              </a:rPr>
              <a:t>, first-class support for all 22 Pacific countries and territories, treated with regional neutrality.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94360" y="2697480"/>
            <a:ext cx="539496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000" b="1">
                <a:solidFill>
                  <a:srgbClr val="555555"/>
                </a:solidFill>
              </a:rPr>
              <a:t>NATIONAL STATISTICS OFFICES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94360" y="2953512"/>
            <a:ext cx="5394960" cy="7315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300" b="1">
                <a:solidFill>
                  <a:srgbClr val="111111"/>
                </a:solidFill>
              </a:rPr>
              <a:t>Stats NZ · Australian Bureau of Statistics</a:t>
            </a:r>
            <a:r>
              <a:rPr sz="1300" b="0">
                <a:solidFill>
                  <a:srgbClr val="111111"/>
                </a:solidFill>
              </a:rPr>
              <a:t> · Fiji Bureau of Statistics · Samoa Bureau of Statistics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94360" y="3840480"/>
            <a:ext cx="539496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000" b="1">
                <a:solidFill>
                  <a:srgbClr val="555555"/>
                </a:solidFill>
              </a:rPr>
              <a:t>INTERNATIONAL ORGANISATIONS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94360" y="4096512"/>
            <a:ext cx="5394960" cy="7315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300" b="0">
                <a:solidFill>
                  <a:srgbClr val="111111"/>
                </a:solidFill>
              </a:rPr>
              <a:t>OECD · Eurostat · UNICEF · ILO · IMF · ECB · BIS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94360" y="5074920"/>
            <a:ext cx="5394960" cy="10058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150" b="0">
                <a:solidFill>
                  <a:srgbClr val="555555"/>
                </a:solidFill>
              </a:rPr>
              <a:t>One conversation can mix sources: Pacific data alongside the same indicator from any connected provider, every series still fetched live from its own endpoint.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492240" y="1554480"/>
            <a:ext cx="5120640" cy="3108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18000"/>
              </a:lnSpc>
              <a:spcAft>
                <a:spcPts val="1300"/>
              </a:spcAft>
            </a:pPr>
            <a:r>
              <a:rPr sz="1300">
                <a:solidFill>
                  <a:srgbClr val="999999"/>
                </a:solidFill>
              </a:rPr>
              <a:t>–  </a:t>
            </a:r>
            <a:r>
              <a:rPr sz="1300" b="1">
                <a:solidFill>
                  <a:srgbClr val="111111"/>
                </a:solidFill>
              </a:rPr>
              <a:t>Live today</a:t>
            </a:r>
            <a:r>
              <a:rPr sz="1300">
                <a:solidFill>
                  <a:srgbClr val="111111"/>
                </a:solidFill>
              </a:rPr>
              <a:t> at sdmxsurfer.net (capped pilot), moving to surfer.pacificdata.org.</a:t>
            </a:r>
          </a:p>
          <a:p>
            <a:pPr>
              <a:lnSpc>
                <a:spcPct val="118000"/>
              </a:lnSpc>
              <a:spcAft>
                <a:spcPts val="1300"/>
              </a:spcAft>
            </a:pPr>
            <a:r>
              <a:rPr sz="1300">
                <a:solidFill>
                  <a:srgbClr val="999999"/>
                </a:solidFill>
              </a:rPr>
              <a:t>–  </a:t>
            </a:r>
            <a:r>
              <a:rPr sz="1300" b="1">
                <a:solidFill>
                  <a:srgbClr val="111111"/>
                </a:solidFill>
              </a:rPr>
              <a:t>Safe to open up:</a:t>
            </a:r>
            <a:r>
              <a:rPr sz="1300">
                <a:solidFill>
                  <a:srgbClr val="111111"/>
                </a:solidFill>
              </a:rPr>
              <a:t> per-user daily limits and a hard budget cap on AI usage; the data itself is public official statistics.</a:t>
            </a:r>
          </a:p>
          <a:p>
            <a:pPr>
              <a:lnSpc>
                <a:spcPct val="118000"/>
              </a:lnSpc>
              <a:spcAft>
                <a:spcPts val="1300"/>
              </a:spcAft>
            </a:pPr>
            <a:r>
              <a:rPr sz="1300">
                <a:solidFill>
                  <a:srgbClr val="999999"/>
                </a:solidFill>
              </a:rPr>
              <a:t>–  </a:t>
            </a:r>
            <a:r>
              <a:rPr sz="1300" b="1">
                <a:solidFill>
                  <a:srgbClr val="111111"/>
                </a:solidFill>
              </a:rPr>
              <a:t>Owned by the Pacific:</a:t>
            </a:r>
            <a:r>
              <a:rPr sz="1300">
                <a:solidFill>
                  <a:srgbClr val="111111"/>
                </a:solidFill>
              </a:rPr>
              <a:t> copyright The Pacific Community (SPC), source available under a noncommercial licence; built at the Statistics for Development Division.</a:t>
            </a:r>
          </a:p>
        </p:txBody>
      </p:sp>
      <p:cxnSp>
        <p:nvCxnSpPr>
          <p:cNvPr id="11" name="Connector 10"/>
          <p:cNvCxnSpPr/>
          <p:nvPr/>
        </p:nvCxnSpPr>
        <p:spPr>
          <a:xfrm>
            <a:off x="6492240" y="4892040"/>
            <a:ext cx="5120640" cy="0"/>
          </a:xfrm>
          <a:prstGeom prst="line">
            <a:avLst/>
          </a:prstGeom>
          <a:ln w="12700">
            <a:solidFill>
              <a:srgbClr val="DDDDDD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2" name="TextBox 11"/>
          <p:cNvSpPr txBox="1"/>
          <p:nvPr/>
        </p:nvSpPr>
        <p:spPr>
          <a:xfrm>
            <a:off x="6492240" y="5074920"/>
            <a:ext cx="5120640" cy="9144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150" b="0">
                <a:solidFill>
                  <a:srgbClr val="111111"/>
                </a:solidFill>
              </a:rPr>
              <a:t>Everything on screen is reproducible: open any chart's source link and you are on the official .Stat query that produced it.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12</TotalTime>
  <Words>671</Words>
  <Application>Microsoft Office PowerPoint</Application>
  <PresentationFormat>Widescreen</PresentationFormat>
  <Paragraphs>53</Paragraphs>
  <Slides>4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4</vt:i4>
      </vt:variant>
    </vt:vector>
  </HeadingPairs>
  <TitlesOfParts>
    <vt:vector size="7" baseType="lpstr">
      <vt:lpstr>Arial</vt:lpstr>
      <vt:lpstr>Calibri</vt:lpstr>
      <vt:lpstr>Office Theme</vt:lpstr>
      <vt:lpstr>PowerPoint Presentation</vt:lpstr>
      <vt:lpstr>PowerPoint Presentation</vt:lpstr>
      <vt:lpstr>PowerPoint Presentation</vt:lpstr>
      <vt:lpstr>PowerPoint Presentation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Giulio Dalla Riva</cp:lastModifiedBy>
  <cp:revision>2</cp:revision>
  <dcterms:created xsi:type="dcterms:W3CDTF">2013-01-27T09:14:16Z</dcterms:created>
  <dcterms:modified xsi:type="dcterms:W3CDTF">2026-07-27T23:33:11Z</dcterms:modified>
  <cp:category/>
</cp:coreProperties>
</file>